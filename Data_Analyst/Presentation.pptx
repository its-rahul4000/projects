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Bold" charset="1" panose="020B0803030501040103"/>
      <p:regular r:id="rId14"/>
    </p:embeddedFont>
    <p:embeddedFont>
      <p:font typeface="Agrandir Bold" charset="1" panose="00000800000000000000"/>
      <p:regular r:id="rId15"/>
    </p:embeddedFont>
    <p:embeddedFont>
      <p:font typeface="League Spartan" charset="1" panose="00000800000000000000"/>
      <p:regular r:id="rId16"/>
    </p:embeddedFont>
    <p:embeddedFont>
      <p:font typeface="Canva Sans Medium" charset="1" panose="020B0603030501040103"/>
      <p:regular r:id="rId17"/>
    </p:embeddedFont>
    <p:embeddedFont>
      <p:font typeface="Poppins Bold" charset="1" panose="00000800000000000000"/>
      <p:regular r:id="rId18"/>
    </p:embeddedFont>
    <p:embeddedFont>
      <p:font typeface="Canva Sans" charset="1" panose="020B0503030501040103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5950" y="-1650880"/>
            <a:ext cx="2914650" cy="29146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8969382"/>
            <a:ext cx="3257550" cy="32575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7907000" y="549395"/>
            <a:ext cx="1504950" cy="1504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7916525" y="-193555"/>
            <a:ext cx="742950" cy="7429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8056" y="1602681"/>
            <a:ext cx="3394194" cy="1079380"/>
          </a:xfrm>
          <a:custGeom>
            <a:avLst/>
            <a:gdLst/>
            <a:ahLst/>
            <a:cxnLst/>
            <a:rect r="r" b="b" t="t" l="l"/>
            <a:pathLst>
              <a:path h="1079380" w="3394194">
                <a:moveTo>
                  <a:pt x="0" y="0"/>
                </a:moveTo>
                <a:lnTo>
                  <a:pt x="3394193" y="0"/>
                </a:lnTo>
                <a:lnTo>
                  <a:pt x="3394193" y="1079380"/>
                </a:lnTo>
                <a:lnTo>
                  <a:pt x="0" y="10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06332" y="1689460"/>
            <a:ext cx="3297416" cy="958223"/>
          </a:xfrm>
          <a:custGeom>
            <a:avLst/>
            <a:gdLst/>
            <a:ahLst/>
            <a:cxnLst/>
            <a:rect r="r" b="b" t="t" l="l"/>
            <a:pathLst>
              <a:path h="958223" w="3297416">
                <a:moveTo>
                  <a:pt x="0" y="0"/>
                </a:moveTo>
                <a:lnTo>
                  <a:pt x="3297416" y="0"/>
                </a:lnTo>
                <a:lnTo>
                  <a:pt x="3297416" y="958224"/>
                </a:lnTo>
                <a:lnTo>
                  <a:pt x="0" y="958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39163" y="1671435"/>
            <a:ext cx="2967094" cy="1010626"/>
          </a:xfrm>
          <a:custGeom>
            <a:avLst/>
            <a:gdLst/>
            <a:ahLst/>
            <a:cxnLst/>
            <a:rect r="r" b="b" t="t" l="l"/>
            <a:pathLst>
              <a:path h="1010626" w="2967094">
                <a:moveTo>
                  <a:pt x="0" y="0"/>
                </a:moveTo>
                <a:lnTo>
                  <a:pt x="2967094" y="0"/>
                </a:lnTo>
                <a:lnTo>
                  <a:pt x="2967094" y="1010626"/>
                </a:lnTo>
                <a:lnTo>
                  <a:pt x="0" y="101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76785" y="1679603"/>
            <a:ext cx="3062303" cy="1002458"/>
          </a:xfrm>
          <a:custGeom>
            <a:avLst/>
            <a:gdLst/>
            <a:ahLst/>
            <a:cxnLst/>
            <a:rect r="r" b="b" t="t" l="l"/>
            <a:pathLst>
              <a:path h="1002458" w="3062303">
                <a:moveTo>
                  <a:pt x="0" y="0"/>
                </a:moveTo>
                <a:lnTo>
                  <a:pt x="3062303" y="0"/>
                </a:lnTo>
                <a:lnTo>
                  <a:pt x="3062303" y="1002458"/>
                </a:lnTo>
                <a:lnTo>
                  <a:pt x="0" y="100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48517" y="3215461"/>
            <a:ext cx="5861187" cy="1236178"/>
          </a:xfrm>
          <a:custGeom>
            <a:avLst/>
            <a:gdLst/>
            <a:ahLst/>
            <a:cxnLst/>
            <a:rect r="r" b="b" t="t" l="l"/>
            <a:pathLst>
              <a:path h="1236178" w="5861187">
                <a:moveTo>
                  <a:pt x="0" y="0"/>
                </a:moveTo>
                <a:lnTo>
                  <a:pt x="5861188" y="0"/>
                </a:lnTo>
                <a:lnTo>
                  <a:pt x="5861188" y="1236177"/>
                </a:lnTo>
                <a:lnTo>
                  <a:pt x="0" y="123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48517" y="4765549"/>
            <a:ext cx="5861187" cy="1236178"/>
          </a:xfrm>
          <a:custGeom>
            <a:avLst/>
            <a:gdLst/>
            <a:ahLst/>
            <a:cxnLst/>
            <a:rect r="r" b="b" t="t" l="l"/>
            <a:pathLst>
              <a:path h="1236178" w="5861187">
                <a:moveTo>
                  <a:pt x="0" y="0"/>
                </a:moveTo>
                <a:lnTo>
                  <a:pt x="5861188" y="0"/>
                </a:lnTo>
                <a:lnTo>
                  <a:pt x="5861188" y="1236178"/>
                </a:lnTo>
                <a:lnTo>
                  <a:pt x="0" y="1236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48517" y="6316052"/>
            <a:ext cx="5861187" cy="1236178"/>
          </a:xfrm>
          <a:custGeom>
            <a:avLst/>
            <a:gdLst/>
            <a:ahLst/>
            <a:cxnLst/>
            <a:rect r="r" b="b" t="t" l="l"/>
            <a:pathLst>
              <a:path h="1236178" w="5861187">
                <a:moveTo>
                  <a:pt x="0" y="0"/>
                </a:moveTo>
                <a:lnTo>
                  <a:pt x="5861188" y="0"/>
                </a:lnTo>
                <a:lnTo>
                  <a:pt x="5861188" y="1236178"/>
                </a:lnTo>
                <a:lnTo>
                  <a:pt x="0" y="1236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48517" y="7866555"/>
            <a:ext cx="5861187" cy="1236178"/>
          </a:xfrm>
          <a:custGeom>
            <a:avLst/>
            <a:gdLst/>
            <a:ahLst/>
            <a:cxnLst/>
            <a:rect r="r" b="b" t="t" l="l"/>
            <a:pathLst>
              <a:path h="1236178" w="5861187">
                <a:moveTo>
                  <a:pt x="0" y="0"/>
                </a:moveTo>
                <a:lnTo>
                  <a:pt x="5861188" y="0"/>
                </a:lnTo>
                <a:lnTo>
                  <a:pt x="5861188" y="1236177"/>
                </a:lnTo>
                <a:lnTo>
                  <a:pt x="0" y="123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87717" y="4951529"/>
            <a:ext cx="5089066" cy="2100396"/>
          </a:xfrm>
          <a:custGeom>
            <a:avLst/>
            <a:gdLst/>
            <a:ahLst/>
            <a:cxnLst/>
            <a:rect r="r" b="b" t="t" l="l"/>
            <a:pathLst>
              <a:path h="2100396" w="5089066">
                <a:moveTo>
                  <a:pt x="0" y="0"/>
                </a:moveTo>
                <a:lnTo>
                  <a:pt x="5089065" y="0"/>
                </a:lnTo>
                <a:lnTo>
                  <a:pt x="5089065" y="2100396"/>
                </a:lnTo>
                <a:lnTo>
                  <a:pt x="0" y="2100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976966" y="4941215"/>
            <a:ext cx="4710566" cy="200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sz="57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Competitive </a:t>
            </a:r>
          </a:p>
          <a:p>
            <a:pPr algn="ctr">
              <a:lnSpc>
                <a:spcPts val="8043"/>
              </a:lnSpc>
            </a:pPr>
            <a:r>
              <a:rPr lang="en-US" sz="57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6876782" y="3833550"/>
            <a:ext cx="2571735" cy="21681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6876782" y="5325340"/>
            <a:ext cx="2552898" cy="676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6876782" y="6001727"/>
            <a:ext cx="2571735" cy="24829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6876782" y="6001727"/>
            <a:ext cx="2571735" cy="9324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-1167469" y="8350257"/>
            <a:ext cx="1504950" cy="150495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-459519" y="9855207"/>
            <a:ext cx="742950" cy="74295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030889" y="33013"/>
            <a:ext cx="4226223" cy="97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6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24070" y="1783949"/>
            <a:ext cx="1052615" cy="89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62801" y="3449120"/>
            <a:ext cx="4606243" cy="64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Product Analysis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85419" y="4680175"/>
            <a:ext cx="4606243" cy="132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Technology stack &amp; Differentiator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62801" y="6253826"/>
            <a:ext cx="5087779" cy="132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</a:pPr>
            <a:r>
              <a:rPr lang="en-US" sz="384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Market Positioning</a:t>
            </a:r>
          </a:p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&amp; Use Cases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53372" y="8128668"/>
            <a:ext cx="4606243" cy="64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SWOT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2569" y="1179315"/>
            <a:ext cx="2348988" cy="746996"/>
          </a:xfrm>
          <a:custGeom>
            <a:avLst/>
            <a:gdLst/>
            <a:ahLst/>
            <a:cxnLst/>
            <a:rect r="r" b="b" t="t" l="l"/>
            <a:pathLst>
              <a:path h="746996" w="2348988">
                <a:moveTo>
                  <a:pt x="0" y="0"/>
                </a:moveTo>
                <a:lnTo>
                  <a:pt x="2348988" y="0"/>
                </a:lnTo>
                <a:lnTo>
                  <a:pt x="2348988" y="746996"/>
                </a:lnTo>
                <a:lnTo>
                  <a:pt x="0" y="746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7803" y="1179315"/>
            <a:ext cx="2588975" cy="752352"/>
          </a:xfrm>
          <a:custGeom>
            <a:avLst/>
            <a:gdLst/>
            <a:ahLst/>
            <a:cxnLst/>
            <a:rect r="r" b="b" t="t" l="l"/>
            <a:pathLst>
              <a:path h="752352" w="2588975">
                <a:moveTo>
                  <a:pt x="0" y="0"/>
                </a:moveTo>
                <a:lnTo>
                  <a:pt x="2588975" y="0"/>
                </a:lnTo>
                <a:lnTo>
                  <a:pt x="2588975" y="752352"/>
                </a:lnTo>
                <a:lnTo>
                  <a:pt x="0" y="752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7558" y="1179912"/>
            <a:ext cx="2100670" cy="715512"/>
          </a:xfrm>
          <a:custGeom>
            <a:avLst/>
            <a:gdLst/>
            <a:ahLst/>
            <a:cxnLst/>
            <a:rect r="r" b="b" t="t" l="l"/>
            <a:pathLst>
              <a:path h="715512" w="2100670">
                <a:moveTo>
                  <a:pt x="0" y="0"/>
                </a:moveTo>
                <a:lnTo>
                  <a:pt x="2100670" y="0"/>
                </a:lnTo>
                <a:lnTo>
                  <a:pt x="2100670" y="715512"/>
                </a:lnTo>
                <a:lnTo>
                  <a:pt x="0" y="715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01132" y="1215558"/>
            <a:ext cx="2076852" cy="679866"/>
          </a:xfrm>
          <a:custGeom>
            <a:avLst/>
            <a:gdLst/>
            <a:ahLst/>
            <a:cxnLst/>
            <a:rect r="r" b="b" t="t" l="l"/>
            <a:pathLst>
              <a:path h="679866" w="2076852">
                <a:moveTo>
                  <a:pt x="0" y="0"/>
                </a:moveTo>
                <a:lnTo>
                  <a:pt x="2076851" y="0"/>
                </a:lnTo>
                <a:lnTo>
                  <a:pt x="2076851" y="679866"/>
                </a:lnTo>
                <a:lnTo>
                  <a:pt x="0" y="67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6259" y="5459034"/>
            <a:ext cx="3609902" cy="43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  <a:spcBef>
                <a:spcPct val="0"/>
              </a:spcBef>
            </a:pPr>
            <a:r>
              <a:rPr lang="en-US" b="true" sz="2376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Dashboards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6259" y="5972958"/>
            <a:ext cx="3787800" cy="85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1644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Offer</a:t>
            </a:r>
            <a:r>
              <a:rPr lang="en-US" b="true" sz="1644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 data insights on delivery performance, fleet utilization, and</a:t>
            </a:r>
            <a:r>
              <a:rPr lang="en-US" b="true" sz="1644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operational efficiency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7337" y="3272691"/>
            <a:ext cx="4799664" cy="102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53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Provid</a:t>
            </a:r>
            <a:r>
              <a:rPr lang="en-US" sz="1953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es live visibility of vehicles and shipments, enabling businesses to monitor delivery</a:t>
            </a:r>
            <a:r>
              <a:rPr lang="en-US" sz="1953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progress.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259" y="3922045"/>
            <a:ext cx="4032027" cy="136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94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Uses alg</a:t>
            </a:r>
            <a:r>
              <a:rPr lang="en-US" sz="194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orithms to determine the most efficient delivery routes based on traffic, distance, and delivery constraints.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259" y="3443791"/>
            <a:ext cx="4032027" cy="41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  <a:spcBef>
                <a:spcPct val="0"/>
              </a:spcBef>
            </a:pPr>
            <a:r>
              <a:rPr lang="en-US" b="true" sz="2275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AI/ML Route Optimization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0379" y="5257587"/>
            <a:ext cx="3289445" cy="45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483532" y="4775262"/>
            <a:ext cx="2952750" cy="1825336"/>
          </a:xfrm>
          <a:custGeom>
            <a:avLst/>
            <a:gdLst/>
            <a:ahLst/>
            <a:cxnLst/>
            <a:rect r="r" b="b" t="t" l="l"/>
            <a:pathLst>
              <a:path h="1825336" w="2952750">
                <a:moveTo>
                  <a:pt x="0" y="0"/>
                </a:moveTo>
                <a:lnTo>
                  <a:pt x="2952750" y="0"/>
                </a:lnTo>
                <a:lnTo>
                  <a:pt x="2952750" y="1825337"/>
                </a:lnTo>
                <a:lnTo>
                  <a:pt x="0" y="1825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83532" y="2754506"/>
            <a:ext cx="3079862" cy="43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8"/>
              </a:lnSpc>
              <a:spcBef>
                <a:spcPct val="0"/>
              </a:spcBef>
            </a:pPr>
            <a:r>
              <a:rPr lang="en-US" b="true" sz="2413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Real Time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65741" y="53352"/>
            <a:ext cx="6556518" cy="9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603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Product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402" y="1978163"/>
            <a:ext cx="3919884" cy="68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9"/>
              </a:lnSpc>
              <a:spcBef>
                <a:spcPct val="0"/>
              </a:spcBef>
            </a:pPr>
            <a:r>
              <a:rPr lang="en-US" b="true" sz="4035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Principle: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36609" y="2096519"/>
            <a:ext cx="9101899" cy="48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B2B SaaS</a:t>
            </a: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platform for logistics operation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6023" y="4974923"/>
            <a:ext cx="3134885" cy="114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</a:t>
            </a:r>
          </a:p>
          <a:p>
            <a:pPr algn="ctr" marL="0" indent="0" lvl="0">
              <a:lnSpc>
                <a:spcPts val="4626"/>
              </a:lnSpc>
              <a:spcBef>
                <a:spcPct val="0"/>
              </a:spcBef>
            </a:pPr>
            <a:r>
              <a:rPr lang="en-US" b="true" sz="33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  <a:r>
              <a:rPr lang="en-US" b="true" sz="3304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ey 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70379" y="5731930"/>
            <a:ext cx="4576299" cy="9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2"/>
              </a:lnSpc>
            </a:pPr>
            <a:r>
              <a:rPr lang="en-US" sz="18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Automate</a:t>
            </a:r>
            <a:r>
              <a:rPr lang="en-US" sz="18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 dispatch planning, route allocation, and</a:t>
            </a:r>
            <a:r>
              <a:rPr lang="en-US" sz="18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delivery scheduling to reduce manual intervention.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7662" y="3253641"/>
            <a:ext cx="5295529" cy="45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&amp; System support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0379" y="3762235"/>
            <a:ext cx="5146336" cy="102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19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Support</a:t>
            </a:r>
            <a:r>
              <a:rPr lang="en-US" sz="19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 integration with enterprise systems like ERP, warehouse management, and</a:t>
            </a:r>
            <a:r>
              <a:rPr lang="en-US" sz="1944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e-commerce platforms through APIs.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0470908" y="3516183"/>
            <a:ext cx="1876754" cy="20644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10263826" y="5535234"/>
            <a:ext cx="2233030" cy="454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H="true">
            <a:off x="3956160" y="5687931"/>
            <a:ext cx="3527372" cy="280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4378286" y="3682918"/>
            <a:ext cx="3105246" cy="20050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8959907" y="4299405"/>
            <a:ext cx="0" cy="4758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603191" y="7093237"/>
            <a:ext cx="2710283" cy="1675447"/>
          </a:xfrm>
          <a:custGeom>
            <a:avLst/>
            <a:gdLst/>
            <a:ahLst/>
            <a:cxnLst/>
            <a:rect r="r" b="b" t="t" l="l"/>
            <a:pathLst>
              <a:path h="1675447" w="2710283">
                <a:moveTo>
                  <a:pt x="0" y="0"/>
                </a:moveTo>
                <a:lnTo>
                  <a:pt x="2710283" y="0"/>
                </a:lnTo>
                <a:lnTo>
                  <a:pt x="2710283" y="1675447"/>
                </a:lnTo>
                <a:lnTo>
                  <a:pt x="0" y="167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397308" y="7325234"/>
            <a:ext cx="3134885" cy="114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6"/>
              </a:lnSpc>
              <a:spcBef>
                <a:spcPct val="0"/>
              </a:spcBef>
            </a:pPr>
            <a:r>
              <a:rPr lang="en-US" b="true" sz="33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Differential K</a:t>
            </a:r>
            <a:r>
              <a:rPr lang="en-US" b="true" sz="3304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ey Feature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19176" y="7325234"/>
            <a:ext cx="6214868" cy="45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Mojro: Advanced Route Optimization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17001" y="7850318"/>
            <a:ext cx="6118912" cy="95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b="true" sz="1833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Focu</a:t>
            </a:r>
            <a:r>
              <a:rPr lang="en-US" b="true" sz="1833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ses on multi-leg route planning and complex supply chain optimization across large enterprise logistics networks.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7938" y="7315709"/>
            <a:ext cx="2760964" cy="43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  <a:spcBef>
                <a:spcPct val="0"/>
              </a:spcBef>
            </a:pPr>
            <a:r>
              <a:rPr lang="en-US" b="true" sz="2376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Locus &amp; LogiNext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3168" y="7808454"/>
            <a:ext cx="4117949" cy="113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1633" b="true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Primarily focus on AI-driven route optimization and last-mile delivery operations</a:t>
            </a:r>
          </a:p>
          <a:p>
            <a:pPr algn="l">
              <a:lnSpc>
                <a:spcPts val="2287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flipH="true" flipV="true">
            <a:off x="4138902" y="7572671"/>
            <a:ext cx="3464289" cy="3582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10313474" y="7587776"/>
            <a:ext cx="1405702" cy="3431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4" id="34"/>
          <p:cNvSpPr txBox="true"/>
          <p:nvPr/>
        </p:nvSpPr>
        <p:spPr>
          <a:xfrm rot="0">
            <a:off x="7577851" y="9002726"/>
            <a:ext cx="2760964" cy="43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b="true" sz="2376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FarEye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69754" y="9475774"/>
            <a:ext cx="4949422" cy="62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b="true" sz="1833">
                <a:solidFill>
                  <a:srgbClr val="1A1A1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Focuses on customer-centric last-mile delivery and branded delivery experience</a:t>
            </a:r>
          </a:p>
        </p:txBody>
      </p:sp>
      <p:sp>
        <p:nvSpPr>
          <p:cNvPr name="AutoShape 36" id="36"/>
          <p:cNvSpPr/>
          <p:nvPr/>
        </p:nvSpPr>
        <p:spPr>
          <a:xfrm>
            <a:off x="8958333" y="8768684"/>
            <a:ext cx="0" cy="3102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8969382"/>
            <a:ext cx="3257550" cy="32575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76330" y="1670005"/>
            <a:ext cx="3203701" cy="1018802"/>
          </a:xfrm>
          <a:custGeom>
            <a:avLst/>
            <a:gdLst/>
            <a:ahLst/>
            <a:cxnLst/>
            <a:rect r="r" b="b" t="t" l="l"/>
            <a:pathLst>
              <a:path h="1018802" w="3203701">
                <a:moveTo>
                  <a:pt x="0" y="0"/>
                </a:moveTo>
                <a:lnTo>
                  <a:pt x="3203701" y="0"/>
                </a:lnTo>
                <a:lnTo>
                  <a:pt x="3203701" y="1018802"/>
                </a:lnTo>
                <a:lnTo>
                  <a:pt x="0" y="101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1393" y="1609611"/>
            <a:ext cx="3297416" cy="958223"/>
          </a:xfrm>
          <a:custGeom>
            <a:avLst/>
            <a:gdLst/>
            <a:ahLst/>
            <a:cxnLst/>
            <a:rect r="r" b="b" t="t" l="l"/>
            <a:pathLst>
              <a:path h="958223" w="3297416">
                <a:moveTo>
                  <a:pt x="0" y="0"/>
                </a:moveTo>
                <a:lnTo>
                  <a:pt x="3297416" y="0"/>
                </a:lnTo>
                <a:lnTo>
                  <a:pt x="3297416" y="958223"/>
                </a:lnTo>
                <a:lnTo>
                  <a:pt x="0" y="958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35437" y="1583409"/>
            <a:ext cx="2967094" cy="1010626"/>
          </a:xfrm>
          <a:custGeom>
            <a:avLst/>
            <a:gdLst/>
            <a:ahLst/>
            <a:cxnLst/>
            <a:rect r="r" b="b" t="t" l="l"/>
            <a:pathLst>
              <a:path h="1010626" w="2967094">
                <a:moveTo>
                  <a:pt x="0" y="0"/>
                </a:moveTo>
                <a:lnTo>
                  <a:pt x="2967094" y="0"/>
                </a:lnTo>
                <a:lnTo>
                  <a:pt x="2967094" y="1010626"/>
                </a:lnTo>
                <a:lnTo>
                  <a:pt x="0" y="101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17431" y="1587493"/>
            <a:ext cx="3062303" cy="1002458"/>
          </a:xfrm>
          <a:custGeom>
            <a:avLst/>
            <a:gdLst/>
            <a:ahLst/>
            <a:cxnLst/>
            <a:rect r="r" b="b" t="t" l="l"/>
            <a:pathLst>
              <a:path h="1002458" w="3062303">
                <a:moveTo>
                  <a:pt x="0" y="0"/>
                </a:moveTo>
                <a:lnTo>
                  <a:pt x="3062303" y="0"/>
                </a:lnTo>
                <a:lnTo>
                  <a:pt x="3062303" y="1002458"/>
                </a:lnTo>
                <a:lnTo>
                  <a:pt x="0" y="100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92397" y="-57150"/>
            <a:ext cx="4303207" cy="97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0"/>
              </a:lnSpc>
            </a:pPr>
            <a:r>
              <a:rPr lang="en-US" sz="604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Technology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850" y="2622132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anguages &amp; Frameworks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60590" y="2688807"/>
            <a:ext cx="3375986" cy="7537875"/>
            <a:chOff x="0" y="0"/>
            <a:chExt cx="889148" cy="1985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90188" y="2688807"/>
            <a:ext cx="3375986" cy="7537875"/>
            <a:chOff x="0" y="0"/>
            <a:chExt cx="889148" cy="1985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3850" y="4375431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ML Usage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3850" y="5987359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ud &amp; Databases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3850" y="7599286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&amp; Integrations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3850" y="9036057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Governance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76330" y="2938829"/>
            <a:ext cx="2015050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C++,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Java,REST APIs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76330" y="4166982"/>
            <a:ext cx="314378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models for dynamic routing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ETA prediction and real-time decisioning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Scenario simulation and constraint automation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76330" y="6304055"/>
            <a:ext cx="292569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Multi-cloud infrastructure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Nvidia AI Sovereign Cloud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290" y="7777870"/>
            <a:ext cx="314378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APIs for ERP, TMS, WMS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enterprise system synchronization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06290" y="9280280"/>
            <a:ext cx="314378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Enterprise-grade security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Role-based access and compliance controls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7431" y="2938829"/>
            <a:ext cx="2015050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Java, C++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Python, React.js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72109" y="4300332"/>
            <a:ext cx="3143782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chine learning for automated dispatch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Adaptive routing algorithms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Multi-variable optimization models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7431" y="6304055"/>
            <a:ext cx="292569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AWS cloud infrastructure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PostgreSQL databases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76692" y="7663590"/>
            <a:ext cx="3143782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API-first integration architecture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Integrates with TMS, OMS, WMS and enterprise stacks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76692" y="9142168"/>
            <a:ext cx="3342372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Structured enterprise governance framework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Controlled access management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130991" y="2688807"/>
            <a:ext cx="3375986" cy="7537875"/>
            <a:chOff x="0" y="0"/>
            <a:chExt cx="889148" cy="19852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7833" y="2938829"/>
            <a:ext cx="3103042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Low-code Business Process Management (BPM) framework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Java,C++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46175" y="4300332"/>
            <a:ext cx="31437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AI-dr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iven routing and dynamic rescheduling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Capacity prediction and performance optimization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87833" y="6189755"/>
            <a:ext cx="3202124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API ecosystem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Integrates order systems, driver apps and enterprise tools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7093" y="7663590"/>
            <a:ext cx="3259884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API ecosystem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Integrates order systems, driver apps and enterprise tools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47093" y="9142168"/>
            <a:ext cx="334237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Secure SaaS cloud model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Scalable data protection mechanisms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740335" y="2688807"/>
            <a:ext cx="3375986" cy="7537875"/>
            <a:chOff x="0" y="0"/>
            <a:chExt cx="889148" cy="19852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897177" y="2938829"/>
            <a:ext cx="310304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Java, Python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 image compression algorithms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955519" y="4300332"/>
            <a:ext cx="316080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AI-power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route optimization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ETAs and automated dispatch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SLA adherence optimization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897177" y="6189755"/>
            <a:ext cx="320212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AWS, Azure, Alibaba Cloud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IBM Cloud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56437" y="7663590"/>
            <a:ext cx="3259884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Integrates with CRM, ERP and carrier APIs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Enterprise platform integrations for unified visibility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56437" y="9142168"/>
            <a:ext cx="334237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Enterprise cloud security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Configurable access and governance controls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920" y="1466888"/>
            <a:ext cx="3203701" cy="1018802"/>
          </a:xfrm>
          <a:custGeom>
            <a:avLst/>
            <a:gdLst/>
            <a:ahLst/>
            <a:cxnLst/>
            <a:rect r="r" b="b" t="t" l="l"/>
            <a:pathLst>
              <a:path h="1018802" w="3203701">
                <a:moveTo>
                  <a:pt x="0" y="0"/>
                </a:moveTo>
                <a:lnTo>
                  <a:pt x="3203702" y="0"/>
                </a:lnTo>
                <a:lnTo>
                  <a:pt x="3203702" y="1018801"/>
                </a:lnTo>
                <a:lnTo>
                  <a:pt x="0" y="101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1884" y="1519290"/>
            <a:ext cx="3297416" cy="958223"/>
          </a:xfrm>
          <a:custGeom>
            <a:avLst/>
            <a:gdLst/>
            <a:ahLst/>
            <a:cxnLst/>
            <a:rect r="r" b="b" t="t" l="l"/>
            <a:pathLst>
              <a:path h="958223" w="3297416">
                <a:moveTo>
                  <a:pt x="0" y="0"/>
                </a:moveTo>
                <a:lnTo>
                  <a:pt x="3297416" y="0"/>
                </a:lnTo>
                <a:lnTo>
                  <a:pt x="3297416" y="958224"/>
                </a:lnTo>
                <a:lnTo>
                  <a:pt x="0" y="958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98575" y="1466888"/>
            <a:ext cx="2967094" cy="1010626"/>
          </a:xfrm>
          <a:custGeom>
            <a:avLst/>
            <a:gdLst/>
            <a:ahLst/>
            <a:cxnLst/>
            <a:rect r="r" b="b" t="t" l="l"/>
            <a:pathLst>
              <a:path h="1010626" w="2967094">
                <a:moveTo>
                  <a:pt x="0" y="0"/>
                </a:moveTo>
                <a:lnTo>
                  <a:pt x="2967094" y="0"/>
                </a:lnTo>
                <a:lnTo>
                  <a:pt x="2967094" y="1010626"/>
                </a:lnTo>
                <a:lnTo>
                  <a:pt x="0" y="101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48880" y="1553116"/>
            <a:ext cx="3062303" cy="1002458"/>
          </a:xfrm>
          <a:custGeom>
            <a:avLst/>
            <a:gdLst/>
            <a:ahLst/>
            <a:cxnLst/>
            <a:rect r="r" b="b" t="t" l="l"/>
            <a:pathLst>
              <a:path h="1002458" w="3062303">
                <a:moveTo>
                  <a:pt x="0" y="0"/>
                </a:moveTo>
                <a:lnTo>
                  <a:pt x="3062303" y="0"/>
                </a:lnTo>
                <a:lnTo>
                  <a:pt x="3062303" y="1002458"/>
                </a:lnTo>
                <a:lnTo>
                  <a:pt x="0" y="100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76527" y="-57150"/>
            <a:ext cx="5734946" cy="97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0"/>
              </a:lnSpc>
            </a:pPr>
            <a:r>
              <a:rPr lang="en-US" sz="604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Differentiator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4685" y="2688807"/>
            <a:ext cx="3822172" cy="5928779"/>
            <a:chOff x="0" y="0"/>
            <a:chExt cx="1006663" cy="15614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6663" cy="1561489"/>
            </a:xfrm>
            <a:custGeom>
              <a:avLst/>
              <a:gdLst/>
              <a:ahLst/>
              <a:cxnLst/>
              <a:rect r="r" b="b" t="t" l="l"/>
              <a:pathLst>
                <a:path h="1561489" w="1006663">
                  <a:moveTo>
                    <a:pt x="1006663" y="38485"/>
                  </a:moveTo>
                  <a:lnTo>
                    <a:pt x="1006663" y="1523004"/>
                  </a:lnTo>
                  <a:cubicBezTo>
                    <a:pt x="1006663" y="1544259"/>
                    <a:pt x="989432" y="1561489"/>
                    <a:pt x="968178" y="1561489"/>
                  </a:cubicBezTo>
                  <a:lnTo>
                    <a:pt x="38485" y="1561489"/>
                  </a:lnTo>
                  <a:cubicBezTo>
                    <a:pt x="17230" y="1561489"/>
                    <a:pt x="0" y="1544259"/>
                    <a:pt x="0" y="1523004"/>
                  </a:cubicBezTo>
                  <a:lnTo>
                    <a:pt x="0" y="38485"/>
                  </a:lnTo>
                  <a:cubicBezTo>
                    <a:pt x="0" y="17230"/>
                    <a:pt x="17230" y="0"/>
                    <a:pt x="38485" y="0"/>
                  </a:cubicBezTo>
                  <a:lnTo>
                    <a:pt x="968178" y="0"/>
                  </a:lnTo>
                  <a:cubicBezTo>
                    <a:pt x="978384" y="0"/>
                    <a:pt x="988173" y="4055"/>
                    <a:pt x="995391" y="11272"/>
                  </a:cubicBezTo>
                  <a:cubicBezTo>
                    <a:pt x="1002608" y="18489"/>
                    <a:pt x="1006663" y="28278"/>
                    <a:pt x="1006663" y="38485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006663" cy="162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68945" y="2688807"/>
            <a:ext cx="3822172" cy="5928779"/>
            <a:chOff x="0" y="0"/>
            <a:chExt cx="1006663" cy="15614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6663" cy="1561489"/>
            </a:xfrm>
            <a:custGeom>
              <a:avLst/>
              <a:gdLst/>
              <a:ahLst/>
              <a:cxnLst/>
              <a:rect r="r" b="b" t="t" l="l"/>
              <a:pathLst>
                <a:path h="1561489" w="1006663">
                  <a:moveTo>
                    <a:pt x="1006663" y="38485"/>
                  </a:moveTo>
                  <a:lnTo>
                    <a:pt x="1006663" y="1523004"/>
                  </a:lnTo>
                  <a:cubicBezTo>
                    <a:pt x="1006663" y="1544259"/>
                    <a:pt x="989432" y="1561489"/>
                    <a:pt x="968178" y="1561489"/>
                  </a:cubicBezTo>
                  <a:lnTo>
                    <a:pt x="38485" y="1561489"/>
                  </a:lnTo>
                  <a:cubicBezTo>
                    <a:pt x="17230" y="1561489"/>
                    <a:pt x="0" y="1544259"/>
                    <a:pt x="0" y="1523004"/>
                  </a:cubicBezTo>
                  <a:lnTo>
                    <a:pt x="0" y="38485"/>
                  </a:lnTo>
                  <a:cubicBezTo>
                    <a:pt x="0" y="17230"/>
                    <a:pt x="17230" y="0"/>
                    <a:pt x="38485" y="0"/>
                  </a:cubicBezTo>
                  <a:lnTo>
                    <a:pt x="968178" y="0"/>
                  </a:lnTo>
                  <a:cubicBezTo>
                    <a:pt x="978384" y="0"/>
                    <a:pt x="988173" y="4055"/>
                    <a:pt x="995391" y="11272"/>
                  </a:cubicBezTo>
                  <a:cubicBezTo>
                    <a:pt x="1002608" y="18489"/>
                    <a:pt x="1006663" y="28278"/>
                    <a:pt x="1006663" y="38485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06663" cy="162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63206" y="2688807"/>
            <a:ext cx="3822172" cy="5928779"/>
            <a:chOff x="0" y="0"/>
            <a:chExt cx="1006663" cy="15614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6663" cy="1561489"/>
            </a:xfrm>
            <a:custGeom>
              <a:avLst/>
              <a:gdLst/>
              <a:ahLst/>
              <a:cxnLst/>
              <a:rect r="r" b="b" t="t" l="l"/>
              <a:pathLst>
                <a:path h="1561489" w="1006663">
                  <a:moveTo>
                    <a:pt x="1006663" y="38485"/>
                  </a:moveTo>
                  <a:lnTo>
                    <a:pt x="1006663" y="1523004"/>
                  </a:lnTo>
                  <a:cubicBezTo>
                    <a:pt x="1006663" y="1544259"/>
                    <a:pt x="989432" y="1561489"/>
                    <a:pt x="968178" y="1561489"/>
                  </a:cubicBezTo>
                  <a:lnTo>
                    <a:pt x="38485" y="1561489"/>
                  </a:lnTo>
                  <a:cubicBezTo>
                    <a:pt x="17230" y="1561489"/>
                    <a:pt x="0" y="1544259"/>
                    <a:pt x="0" y="1523004"/>
                  </a:cubicBezTo>
                  <a:lnTo>
                    <a:pt x="0" y="38485"/>
                  </a:lnTo>
                  <a:cubicBezTo>
                    <a:pt x="0" y="17230"/>
                    <a:pt x="17230" y="0"/>
                    <a:pt x="38485" y="0"/>
                  </a:cubicBezTo>
                  <a:lnTo>
                    <a:pt x="968178" y="0"/>
                  </a:lnTo>
                  <a:cubicBezTo>
                    <a:pt x="978384" y="0"/>
                    <a:pt x="988173" y="4055"/>
                    <a:pt x="995391" y="11272"/>
                  </a:cubicBezTo>
                  <a:cubicBezTo>
                    <a:pt x="1002608" y="18489"/>
                    <a:pt x="1006663" y="28278"/>
                    <a:pt x="1006663" y="38485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06663" cy="162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57466" y="2688807"/>
            <a:ext cx="3822172" cy="5928779"/>
            <a:chOff x="0" y="0"/>
            <a:chExt cx="1006663" cy="15614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63" cy="1561489"/>
            </a:xfrm>
            <a:custGeom>
              <a:avLst/>
              <a:gdLst/>
              <a:ahLst/>
              <a:cxnLst/>
              <a:rect r="r" b="b" t="t" l="l"/>
              <a:pathLst>
                <a:path h="1561489" w="1006663">
                  <a:moveTo>
                    <a:pt x="1006663" y="38485"/>
                  </a:moveTo>
                  <a:lnTo>
                    <a:pt x="1006663" y="1523004"/>
                  </a:lnTo>
                  <a:cubicBezTo>
                    <a:pt x="1006663" y="1544259"/>
                    <a:pt x="989432" y="1561489"/>
                    <a:pt x="968178" y="1561489"/>
                  </a:cubicBezTo>
                  <a:lnTo>
                    <a:pt x="38485" y="1561489"/>
                  </a:lnTo>
                  <a:cubicBezTo>
                    <a:pt x="17230" y="1561489"/>
                    <a:pt x="0" y="1544259"/>
                    <a:pt x="0" y="1523004"/>
                  </a:cubicBezTo>
                  <a:lnTo>
                    <a:pt x="0" y="38485"/>
                  </a:lnTo>
                  <a:cubicBezTo>
                    <a:pt x="0" y="17230"/>
                    <a:pt x="17230" y="0"/>
                    <a:pt x="38485" y="0"/>
                  </a:cubicBezTo>
                  <a:lnTo>
                    <a:pt x="968178" y="0"/>
                  </a:lnTo>
                  <a:cubicBezTo>
                    <a:pt x="978384" y="0"/>
                    <a:pt x="988173" y="4055"/>
                    <a:pt x="995391" y="11272"/>
                  </a:cubicBezTo>
                  <a:cubicBezTo>
                    <a:pt x="1002608" y="18489"/>
                    <a:pt x="1006663" y="28278"/>
                    <a:pt x="1006663" y="38485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06663" cy="162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74685" y="2940722"/>
            <a:ext cx="3809842" cy="540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Deep constraint modelling for logistics planning</a:t>
            </a:r>
          </a:p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Digital Twin simulation for supply chain scenarios</a:t>
            </a:r>
          </a:p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Operations Research based optimization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75111" y="2940722"/>
            <a:ext cx="3809842" cy="246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API-first modular architecture</a:t>
            </a:r>
          </a:p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Highly flexible and scalable logistics platform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62618" y="2944239"/>
            <a:ext cx="3623698" cy="393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customer delivery experience</a:t>
            </a:r>
          </a:p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Customer-centric last-mile delivery orchestration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82059" y="2944239"/>
            <a:ext cx="3809842" cy="295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ecution-focused delivery automation</a:t>
            </a:r>
          </a:p>
          <a:p>
            <a:pPr algn="l" marL="603619" indent="-301809" lvl="1">
              <a:lnSpc>
                <a:spcPts val="3914"/>
              </a:lnSpc>
              <a:buFont typeface="Arial"/>
              <a:buChar char="•"/>
            </a:pPr>
            <a:r>
              <a:rPr lang="en-US" sz="27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retail and food network integrations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5164" y="9008111"/>
            <a:ext cx="16914474" cy="100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“Mojro differentiates itself through advance deep route optimization algorithms and its goal</a:t>
            </a:r>
          </a:p>
          <a:p>
            <a:pPr algn="l">
              <a:lnSpc>
                <a:spcPts val="3914"/>
              </a:lnSpc>
            </a:pPr>
            <a:r>
              <a:rPr lang="en-US" b="true" sz="27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to reduce travel distance,save fuel, deliver faster and cost saving.”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8969382"/>
            <a:ext cx="3257550" cy="32575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76330" y="1670005"/>
            <a:ext cx="3203701" cy="1018802"/>
          </a:xfrm>
          <a:custGeom>
            <a:avLst/>
            <a:gdLst/>
            <a:ahLst/>
            <a:cxnLst/>
            <a:rect r="r" b="b" t="t" l="l"/>
            <a:pathLst>
              <a:path h="1018802" w="3203701">
                <a:moveTo>
                  <a:pt x="0" y="0"/>
                </a:moveTo>
                <a:lnTo>
                  <a:pt x="3203701" y="0"/>
                </a:lnTo>
                <a:lnTo>
                  <a:pt x="3203701" y="1018802"/>
                </a:lnTo>
                <a:lnTo>
                  <a:pt x="0" y="101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1393" y="1609611"/>
            <a:ext cx="3297416" cy="958223"/>
          </a:xfrm>
          <a:custGeom>
            <a:avLst/>
            <a:gdLst/>
            <a:ahLst/>
            <a:cxnLst/>
            <a:rect r="r" b="b" t="t" l="l"/>
            <a:pathLst>
              <a:path h="958223" w="3297416">
                <a:moveTo>
                  <a:pt x="0" y="0"/>
                </a:moveTo>
                <a:lnTo>
                  <a:pt x="3297416" y="0"/>
                </a:lnTo>
                <a:lnTo>
                  <a:pt x="3297416" y="958223"/>
                </a:lnTo>
                <a:lnTo>
                  <a:pt x="0" y="958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35437" y="1583409"/>
            <a:ext cx="2967094" cy="1010626"/>
          </a:xfrm>
          <a:custGeom>
            <a:avLst/>
            <a:gdLst/>
            <a:ahLst/>
            <a:cxnLst/>
            <a:rect r="r" b="b" t="t" l="l"/>
            <a:pathLst>
              <a:path h="1010626" w="2967094">
                <a:moveTo>
                  <a:pt x="0" y="0"/>
                </a:moveTo>
                <a:lnTo>
                  <a:pt x="2967094" y="0"/>
                </a:lnTo>
                <a:lnTo>
                  <a:pt x="2967094" y="1010626"/>
                </a:lnTo>
                <a:lnTo>
                  <a:pt x="0" y="101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17431" y="1587493"/>
            <a:ext cx="3062303" cy="1002458"/>
          </a:xfrm>
          <a:custGeom>
            <a:avLst/>
            <a:gdLst/>
            <a:ahLst/>
            <a:cxnLst/>
            <a:rect r="r" b="b" t="t" l="l"/>
            <a:pathLst>
              <a:path h="1002458" w="3062303">
                <a:moveTo>
                  <a:pt x="0" y="0"/>
                </a:moveTo>
                <a:lnTo>
                  <a:pt x="3062303" y="0"/>
                </a:lnTo>
                <a:lnTo>
                  <a:pt x="3062303" y="1002458"/>
                </a:lnTo>
                <a:lnTo>
                  <a:pt x="0" y="100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00829" y="20277"/>
            <a:ext cx="12295508" cy="97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0"/>
              </a:lnSpc>
            </a:pPr>
            <a:r>
              <a:rPr lang="en-US" sz="604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Positioning &amp; Use Cases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850" y="2760244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ary Industries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60590" y="2688807"/>
            <a:ext cx="3375986" cy="7537875"/>
            <a:chOff x="0" y="0"/>
            <a:chExt cx="889148" cy="1985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90188" y="2688807"/>
            <a:ext cx="3375986" cy="7537875"/>
            <a:chOff x="0" y="0"/>
            <a:chExt cx="889148" cy="1985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3850" y="4375431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Segment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3850" y="6146912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Cli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ents</a:t>
            </a:r>
          </a:p>
          <a:p>
            <a:pPr algn="ctr">
              <a:lnSpc>
                <a:spcPts val="4535"/>
              </a:lnSpc>
            </a:pP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3850" y="7599286"/>
            <a:ext cx="2516320" cy="113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ricing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8068" y="9354089"/>
            <a:ext cx="2516320" cy="56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76330" y="2938829"/>
            <a:ext cx="3203701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FMCG / CPG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Retail &amp; E-commerce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Dairy logistics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Courier operations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06290" y="4567032"/>
            <a:ext cx="31437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Mid–large enterprises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Complex delivery networks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76330" y="6304055"/>
            <a:ext cx="292569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Unilever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Godrej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Lactalis etc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290" y="7777870"/>
            <a:ext cx="314378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Enterprise SaaS pricing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Volume-based customization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06290" y="9280280"/>
            <a:ext cx="314378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FMCG route optimization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Multi-warehouse planning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7431" y="2938829"/>
            <a:ext cx="2015050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Retail logistics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E-commerce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3PL logistics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Manufacturing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72109" y="4567032"/>
            <a:ext cx="31437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Global enterprises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Multi-country logistics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72109" y="6465980"/>
            <a:ext cx="292569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Unilever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Nestle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Blue Dart etc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76692" y="7942186"/>
            <a:ext cx="314378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 enterprise pricing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Scale-based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76692" y="9142168"/>
            <a:ext cx="334237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Multi-mile logistics orchestration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Retail fulfillment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130991" y="2688807"/>
            <a:ext cx="3375986" cy="7537875"/>
            <a:chOff x="0" y="0"/>
            <a:chExt cx="889148" cy="19852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7833" y="2938829"/>
            <a:ext cx="3103042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E-commerce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Grocery delivery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Courier services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Pharma logistics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87833" y="4619625"/>
            <a:ext cx="31437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Last-mile focused enterprises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visibility needs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87833" y="6429170"/>
            <a:ext cx="320212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DHL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Amway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Walmart Mexico etc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7093" y="7942186"/>
            <a:ext cx="32598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SaaS pricing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Delivery-volume based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47093" y="9142168"/>
            <a:ext cx="334237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delivery windows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Branded tracking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740335" y="2688807"/>
            <a:ext cx="3375986" cy="7537875"/>
            <a:chOff x="0" y="0"/>
            <a:chExt cx="889148" cy="19852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9148" cy="1985284"/>
            </a:xfrm>
            <a:custGeom>
              <a:avLst/>
              <a:gdLst/>
              <a:ahLst/>
              <a:cxnLst/>
              <a:rect r="r" b="b" t="t" l="l"/>
              <a:pathLst>
                <a:path h="1985284" w="889148">
                  <a:moveTo>
                    <a:pt x="889148" y="43571"/>
                  </a:moveTo>
                  <a:lnTo>
                    <a:pt x="889148" y="1941713"/>
                  </a:lnTo>
                  <a:cubicBezTo>
                    <a:pt x="889148" y="1953269"/>
                    <a:pt x="884558" y="1964351"/>
                    <a:pt x="876387" y="1972522"/>
                  </a:cubicBezTo>
                  <a:cubicBezTo>
                    <a:pt x="868215" y="1980693"/>
                    <a:pt x="857133" y="1985284"/>
                    <a:pt x="845577" y="1985284"/>
                  </a:cubicBezTo>
                  <a:lnTo>
                    <a:pt x="43571" y="1985284"/>
                  </a:lnTo>
                  <a:cubicBezTo>
                    <a:pt x="19508" y="1985284"/>
                    <a:pt x="0" y="1965777"/>
                    <a:pt x="0" y="1941713"/>
                  </a:cubicBezTo>
                  <a:lnTo>
                    <a:pt x="0" y="43571"/>
                  </a:lnTo>
                  <a:cubicBezTo>
                    <a:pt x="0" y="19508"/>
                    <a:pt x="19508" y="0"/>
                    <a:pt x="43571" y="0"/>
                  </a:cubicBezTo>
                  <a:lnTo>
                    <a:pt x="845577" y="0"/>
                  </a:lnTo>
                  <a:cubicBezTo>
                    <a:pt x="869641" y="0"/>
                    <a:pt x="889148" y="19508"/>
                    <a:pt x="889148" y="43571"/>
                  </a:cubicBezTo>
                  <a:close/>
                </a:path>
              </a:pathLst>
            </a:custGeom>
            <a:solidFill>
              <a:srgbClr val="FFF3C2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889148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897177" y="2938829"/>
            <a:ext cx="3103042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Retail distribution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E-commerce delivery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Courier services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Food &amp; beverage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901393" y="4567032"/>
            <a:ext cx="316080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Automation-focused enterprises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Delivery operations teams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897177" y="6465980"/>
            <a:ext cx="3202124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KFC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Starbucks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UPS etc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18756" y="7873140"/>
            <a:ext cx="32598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Modular enterprise pricing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Feature-based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56437" y="9142168"/>
            <a:ext cx="3342372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Route execution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ETA optimization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SLA monitoring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5950" y="-1650880"/>
            <a:ext cx="2914650" cy="29146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8969382"/>
            <a:ext cx="3257550" cy="32575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7907000" y="549395"/>
            <a:ext cx="1504950" cy="1504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7916525" y="-193555"/>
            <a:ext cx="742950" cy="7429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063087" y="1028700"/>
            <a:ext cx="3861811" cy="1228085"/>
          </a:xfrm>
          <a:custGeom>
            <a:avLst/>
            <a:gdLst/>
            <a:ahLst/>
            <a:cxnLst/>
            <a:rect r="r" b="b" t="t" l="l"/>
            <a:pathLst>
              <a:path h="1228085" w="3861811">
                <a:moveTo>
                  <a:pt x="0" y="0"/>
                </a:moveTo>
                <a:lnTo>
                  <a:pt x="3861810" y="0"/>
                </a:lnTo>
                <a:lnTo>
                  <a:pt x="3861810" y="1228085"/>
                </a:lnTo>
                <a:lnTo>
                  <a:pt x="0" y="1228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1167469" y="8350257"/>
            <a:ext cx="1504950" cy="15049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459519" y="9855207"/>
            <a:ext cx="742950" cy="7429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218567" y="189788"/>
            <a:ext cx="5850866" cy="97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6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SWOT Analysis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37481" y="2381250"/>
            <a:ext cx="4225758" cy="7537875"/>
            <a:chOff x="0" y="0"/>
            <a:chExt cx="1112957" cy="19852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957" cy="1985284"/>
            </a:xfrm>
            <a:custGeom>
              <a:avLst/>
              <a:gdLst/>
              <a:ahLst/>
              <a:cxnLst/>
              <a:rect r="r" b="b" t="t" l="l"/>
              <a:pathLst>
                <a:path h="1985284" w="1112957">
                  <a:moveTo>
                    <a:pt x="1112957" y="34809"/>
                  </a:moveTo>
                  <a:lnTo>
                    <a:pt x="1112957" y="1950475"/>
                  </a:lnTo>
                  <a:cubicBezTo>
                    <a:pt x="1112957" y="1969699"/>
                    <a:pt x="1097372" y="1985284"/>
                    <a:pt x="1078147" y="1985284"/>
                  </a:cubicBezTo>
                  <a:lnTo>
                    <a:pt x="34809" y="1985284"/>
                  </a:lnTo>
                  <a:cubicBezTo>
                    <a:pt x="15585" y="1985284"/>
                    <a:pt x="0" y="1969699"/>
                    <a:pt x="0" y="1950475"/>
                  </a:cubicBezTo>
                  <a:lnTo>
                    <a:pt x="0" y="34809"/>
                  </a:lnTo>
                  <a:cubicBezTo>
                    <a:pt x="0" y="15585"/>
                    <a:pt x="15585" y="0"/>
                    <a:pt x="34809" y="0"/>
                  </a:cubicBezTo>
                  <a:lnTo>
                    <a:pt x="1078147" y="0"/>
                  </a:lnTo>
                  <a:cubicBezTo>
                    <a:pt x="1097372" y="0"/>
                    <a:pt x="1112957" y="15585"/>
                    <a:pt x="1112957" y="34809"/>
                  </a:cubicBezTo>
                  <a:close/>
                </a:path>
              </a:pathLst>
            </a:custGeom>
            <a:solidFill>
              <a:srgbClr val="C2FFE1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12957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63903" y="2381250"/>
            <a:ext cx="4225758" cy="7537875"/>
            <a:chOff x="0" y="0"/>
            <a:chExt cx="1112957" cy="19852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2957" cy="1985284"/>
            </a:xfrm>
            <a:custGeom>
              <a:avLst/>
              <a:gdLst/>
              <a:ahLst/>
              <a:cxnLst/>
              <a:rect r="r" b="b" t="t" l="l"/>
              <a:pathLst>
                <a:path h="1985284" w="1112957">
                  <a:moveTo>
                    <a:pt x="1112957" y="34809"/>
                  </a:moveTo>
                  <a:lnTo>
                    <a:pt x="1112957" y="1950475"/>
                  </a:lnTo>
                  <a:cubicBezTo>
                    <a:pt x="1112957" y="1969699"/>
                    <a:pt x="1097372" y="1985284"/>
                    <a:pt x="1078147" y="1985284"/>
                  </a:cubicBezTo>
                  <a:lnTo>
                    <a:pt x="34809" y="1985284"/>
                  </a:lnTo>
                  <a:cubicBezTo>
                    <a:pt x="15585" y="1985284"/>
                    <a:pt x="0" y="1969699"/>
                    <a:pt x="0" y="1950475"/>
                  </a:cubicBezTo>
                  <a:lnTo>
                    <a:pt x="0" y="34809"/>
                  </a:lnTo>
                  <a:cubicBezTo>
                    <a:pt x="0" y="15585"/>
                    <a:pt x="15585" y="0"/>
                    <a:pt x="34809" y="0"/>
                  </a:cubicBezTo>
                  <a:lnTo>
                    <a:pt x="1078147" y="0"/>
                  </a:lnTo>
                  <a:cubicBezTo>
                    <a:pt x="1097372" y="0"/>
                    <a:pt x="1112957" y="15585"/>
                    <a:pt x="1112957" y="34809"/>
                  </a:cubicBezTo>
                  <a:close/>
                </a:path>
              </a:pathLst>
            </a:custGeom>
            <a:solidFill>
              <a:srgbClr val="C2FFE1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12957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89686" y="2381250"/>
            <a:ext cx="4225758" cy="7537875"/>
            <a:chOff x="0" y="0"/>
            <a:chExt cx="1112957" cy="19852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2957" cy="1985284"/>
            </a:xfrm>
            <a:custGeom>
              <a:avLst/>
              <a:gdLst/>
              <a:ahLst/>
              <a:cxnLst/>
              <a:rect r="r" b="b" t="t" l="l"/>
              <a:pathLst>
                <a:path h="1985284" w="1112957">
                  <a:moveTo>
                    <a:pt x="1112957" y="34809"/>
                  </a:moveTo>
                  <a:lnTo>
                    <a:pt x="1112957" y="1950475"/>
                  </a:lnTo>
                  <a:cubicBezTo>
                    <a:pt x="1112957" y="1969699"/>
                    <a:pt x="1097372" y="1985284"/>
                    <a:pt x="1078147" y="1985284"/>
                  </a:cubicBezTo>
                  <a:lnTo>
                    <a:pt x="34809" y="1985284"/>
                  </a:lnTo>
                  <a:cubicBezTo>
                    <a:pt x="15585" y="1985284"/>
                    <a:pt x="0" y="1969699"/>
                    <a:pt x="0" y="1950475"/>
                  </a:cubicBezTo>
                  <a:lnTo>
                    <a:pt x="0" y="34809"/>
                  </a:lnTo>
                  <a:cubicBezTo>
                    <a:pt x="0" y="15585"/>
                    <a:pt x="15585" y="0"/>
                    <a:pt x="34809" y="0"/>
                  </a:cubicBezTo>
                  <a:lnTo>
                    <a:pt x="1078147" y="0"/>
                  </a:lnTo>
                  <a:cubicBezTo>
                    <a:pt x="1097372" y="0"/>
                    <a:pt x="1112957" y="15585"/>
                    <a:pt x="1112957" y="34809"/>
                  </a:cubicBezTo>
                  <a:close/>
                </a:path>
              </a:pathLst>
            </a:custGeom>
            <a:solidFill>
              <a:srgbClr val="C2FFE1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112957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90767" y="2381250"/>
            <a:ext cx="4225758" cy="7537875"/>
            <a:chOff x="0" y="0"/>
            <a:chExt cx="1112957" cy="19852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2957" cy="1985284"/>
            </a:xfrm>
            <a:custGeom>
              <a:avLst/>
              <a:gdLst/>
              <a:ahLst/>
              <a:cxnLst/>
              <a:rect r="r" b="b" t="t" l="l"/>
              <a:pathLst>
                <a:path h="1985284" w="1112957">
                  <a:moveTo>
                    <a:pt x="1112957" y="34809"/>
                  </a:moveTo>
                  <a:lnTo>
                    <a:pt x="1112957" y="1950475"/>
                  </a:lnTo>
                  <a:cubicBezTo>
                    <a:pt x="1112957" y="1969699"/>
                    <a:pt x="1097372" y="1985284"/>
                    <a:pt x="1078147" y="1985284"/>
                  </a:cubicBezTo>
                  <a:lnTo>
                    <a:pt x="34809" y="1985284"/>
                  </a:lnTo>
                  <a:cubicBezTo>
                    <a:pt x="15585" y="1985284"/>
                    <a:pt x="0" y="1969699"/>
                    <a:pt x="0" y="1950475"/>
                  </a:cubicBezTo>
                  <a:lnTo>
                    <a:pt x="0" y="34809"/>
                  </a:lnTo>
                  <a:cubicBezTo>
                    <a:pt x="0" y="15585"/>
                    <a:pt x="15585" y="0"/>
                    <a:pt x="34809" y="0"/>
                  </a:cubicBezTo>
                  <a:lnTo>
                    <a:pt x="1078147" y="0"/>
                  </a:lnTo>
                  <a:cubicBezTo>
                    <a:pt x="1097372" y="0"/>
                    <a:pt x="1112957" y="15585"/>
                    <a:pt x="1112957" y="34809"/>
                  </a:cubicBezTo>
                  <a:close/>
                </a:path>
              </a:pathLst>
            </a:custGeom>
            <a:solidFill>
              <a:srgbClr val="C2FFE1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112957" cy="205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2200" y="2576102"/>
            <a:ext cx="2516320" cy="56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32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rengths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18303" y="2576102"/>
            <a:ext cx="2516320" cy="56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Weaknesses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30242" y="2576102"/>
            <a:ext cx="2944647" cy="56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Opportunities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53645" y="2576102"/>
            <a:ext cx="2944647" cy="56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5439" y="3838716"/>
            <a:ext cx="3809842" cy="377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AI-driven logistics optimization</a:t>
            </a:r>
          </a:p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Multi-leg route planning capability</a:t>
            </a:r>
          </a:p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enterprise supply-chain planning</a:t>
            </a:r>
          </a:p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Scalable SaaS platform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67403" y="3838716"/>
            <a:ext cx="4018120" cy="419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Lower global brand recognition compared to major competitors</a:t>
            </a:r>
          </a:p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publicly visible global enterprise case studies</a:t>
            </a:r>
          </a:p>
          <a:p>
            <a:pPr algn="l" marL="517261" indent="-258631" lvl="1">
              <a:lnSpc>
                <a:spcPts val="3354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enterprise focus with limited penetration in SME market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31154" y="3848241"/>
            <a:ext cx="4018120" cy="47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Growing demand for AI-driven supply chain optimization 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Expansion into international enterprise markets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Increasing adoption of real-time logistics visibility tools 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with EV routing and sustainable logistics solutions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94586" y="3848241"/>
            <a:ext cx="4018120" cy="47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competition from well-funded competitors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Rapid technology evolution in AI logistics space 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Price-based competition in SaaS logistics market</a:t>
            </a:r>
          </a:p>
          <a:p>
            <a:pPr algn="l" marL="495672" indent="-247836" lvl="1">
              <a:lnSpc>
                <a:spcPts val="3214"/>
              </a:lnSpc>
              <a:buFont typeface="Arial"/>
              <a:buChar char="•"/>
            </a:pPr>
            <a:r>
              <a:rPr lang="en-US" sz="2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enterprises preferring established global brands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5950" y="-1650880"/>
            <a:ext cx="2914650" cy="29146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8969382"/>
            <a:ext cx="3257550" cy="32575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7907000" y="549395"/>
            <a:ext cx="1504950" cy="1504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7916525" y="-193555"/>
            <a:ext cx="742950" cy="7429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67469" y="8350257"/>
            <a:ext cx="1504950" cy="15049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59519" y="9855207"/>
            <a:ext cx="742950" cy="7429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CAC8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54925" y="120770"/>
            <a:ext cx="4478133" cy="97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6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3090" y="1646031"/>
            <a:ext cx="16921819" cy="78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493" indent="-345746" lvl="1">
              <a:lnSpc>
                <a:spcPts val="4483"/>
              </a:lnSpc>
              <a:buFont typeface="Arial"/>
              <a:buChar char="•"/>
            </a:pP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Mojro operates in a highly competitive AI-driven logistics SaaS market</a:t>
            </a:r>
          </a:p>
          <a:p>
            <a:pPr algn="l">
              <a:lnSpc>
                <a:spcPts val="4483"/>
              </a:lnSpc>
            </a:pPr>
          </a:p>
          <a:p>
            <a:pPr algn="l" marL="691493" indent="-345746" lvl="1">
              <a:lnSpc>
                <a:spcPts val="4483"/>
              </a:lnSpc>
              <a:buFont typeface="Arial"/>
              <a:buChar char="•"/>
            </a:pP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Competitors differentiate through global scale (Locus), customer delivery experience (FarEye), and execution automation (LogiNext)</a:t>
            </a:r>
          </a:p>
          <a:p>
            <a:pPr algn="l">
              <a:lnSpc>
                <a:spcPts val="4483"/>
              </a:lnSpc>
            </a:pPr>
          </a:p>
          <a:p>
            <a:pPr algn="l" marL="691493" indent="-345746" lvl="1">
              <a:lnSpc>
                <a:spcPts val="4483"/>
              </a:lnSpc>
              <a:buFont typeface="Arial"/>
              <a:buChar char="•"/>
            </a:pP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Mojro’s key strength lies in advance logistics optimization algorithm with Focuses on multi-leg route planning and complex supply chain optimization.</a:t>
            </a:r>
          </a:p>
          <a:p>
            <a:pPr algn="l">
              <a:lnSpc>
                <a:spcPts val="4483"/>
              </a:lnSpc>
            </a:pPr>
          </a:p>
          <a:p>
            <a:pPr algn="l" marL="691493" indent="-345746" lvl="1">
              <a:lnSpc>
                <a:spcPts val="44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Particularly well suited for FMCG, dairy distribution, and high-volume retail supply chains</a:t>
            </a:r>
          </a:p>
          <a:p>
            <a:pPr algn="l">
              <a:lnSpc>
                <a:spcPts val="4483"/>
              </a:lnSpc>
              <a:spcBef>
                <a:spcPct val="0"/>
              </a:spcBef>
            </a:pPr>
          </a:p>
          <a:p>
            <a:pPr algn="l" marL="691493" indent="-345746" lvl="1">
              <a:lnSpc>
                <a:spcPts val="44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</a:t>
            </a:r>
            <a:r>
              <a:rPr lang="en-US" b="true" sz="320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 maintain long-term advantage, Mojro should expand beyond optimization depth toward broader end-to-end supplya chain orchestration</a:t>
            </a:r>
          </a:p>
          <a:p>
            <a:pPr algn="l">
              <a:lnSpc>
                <a:spcPts val="44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40936" y="3876792"/>
            <a:ext cx="11006129" cy="238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58"/>
              </a:lnSpc>
            </a:pPr>
            <a:r>
              <a:rPr lang="en-US" sz="1475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Competitive Analysis Overview</dc:description>
  <dc:identifier>DAHCneYx6EY</dc:identifier>
  <dcterms:modified xsi:type="dcterms:W3CDTF">2011-08-01T06:04:30Z</dcterms:modified>
  <cp:revision>1</cp:revision>
  <dc:title>Presentation</dc:title>
</cp:coreProperties>
</file>